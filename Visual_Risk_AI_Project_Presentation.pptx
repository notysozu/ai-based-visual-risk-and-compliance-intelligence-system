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98142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INTELLIGENT DECISION ENGINE &amp; DIGITAL TWIN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</a:defRPr>
            </a:pPr>
            <a:r>
              <a:t>Visual Risk AI</a:t>
            </a:r>
          </a:p>
          <a:p>
            <a:pPr>
              <a:spcAft>
                <a:spcPts val="1400"/>
              </a:spcAft>
              <a:defRPr sz="2000" b="1">
                <a:solidFill>
                  <a:srgbClr val="818CF8"/>
                </a:solidFill>
              </a:defRPr>
            </a:pPr>
            <a:r>
              <a:t>AI-Based Visual Risk &amp; Compliance Intelligence System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deterministic mathematical simulation engine, autonomous circadian schedule planner, and multi-modal conversational copilot backed by MongoDB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663440"/>
            <a:ext cx="98142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</a:defRPr>
            </a:pPr>
            <a:r>
              <a:t>Author: notysozu &lt;lifegamer2050@gmail.com&gt;   |   Platform: React 19 + FastAPI +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PROBLEM STATEMENT &amp; VALUE PROPOSITION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Summary: The Mission of Visual Risk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7185"/>
                </a:solidFill>
              </a:defRPr>
            </a:pPr>
            <a:r>
              <a:t>THE PROBLEM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Fragmented Life Telemetry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Health trackers, bank apps, and calendars operate in isolated silos without holistic risk awareness.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Hidden Compounding Friction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A minor daily sleep reduction or impulse purchase cascades into 5-year compounding milestone delays.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Static Unresponsive Tools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Traditional planners require tedious manual scheduling and fail to compensate for biological sleep debt or burnout.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Lack of Stochastic Modeling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Spreadsheets assume linear outcomes, failing to model real-world market volatility and probabilistic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THE VISUAL RISK AI SOLUTION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Unified Digital Twin State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Real-time mathematical aggregation of biometrics, study sprints, cashflows, and long-term milestones.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- 500-Run Monte Carlo Engine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Geometric Brownian Motion simulation providing probabilistic percentile bounds (P10, P50, P90).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Autonomous Circadian Planner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Auto-schedules daily focus blocks aligned with peak cortisol curves (08:30-11:30 AM) and sleep debt.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- 4-Stage Agentic Copilot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Conversational AI that computes mathematical tradeoffs and yields 1-click executable actions into MongoDB.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SYSTEM TOPOLOGY &amp; INTEGRATION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End-to-End Multi-Tier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Tier 1: Client Layer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React 19 + TypeScript + Vite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Interactive Digital Twin Dashboard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Visual Risk Copilot (/chat) with Voice STT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Decision Sandbox with Dual Sliders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Autonomous Planner with Timeline Visuals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Habit Analytics with Correlation Graphs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146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0020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18CF8"/>
                </a:solidFill>
              </a:defRPr>
            </a:pPr>
            <a:r>
              <a:t>Tier 2: Backend Gateway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FastAPI + Motor + Beanie ODM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Asynchronous High-Throughput REST API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Argon2id/Bcrypt + JWT &amp; Rotating Cookies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Token Family Theft &amp; Replay Protection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Unified Multi-Role Authentication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Structured Pydantic v2 Request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146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</a:defRPr>
            </a:pPr>
            <a:r>
              <a:t>Tier 3: Intelligence Engine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Groq LLMs + NumPy Simulation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- 4-Stage Agentic Reasoning Pipeline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- 500-Trial Stochastic Monte Carlo Engine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Circadian Cortisol &amp; Alertness Modeler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Dynamic Markdown Schedule Table Parser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Groq 120B/20B/27B with Rule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5146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0020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BBF24"/>
                </a:solidFill>
              </a:defRPr>
            </a:pPr>
            <a:r>
              <a:t>Tier 4: Persistence Layer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MongoDB + Local Snapshot Store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Beanie Document ODM Collections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Embedded Messages for Atomic Dialogue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Automatic Snapshotting on All Mutations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data/mongodb_persistence.json Store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Zero-Loss Session Recovery Across Logins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ADAPTIVE INTELLIGENCE &amp; ROLE PERSONALIZATION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Target Personas &amp; Dynamic Telemetry Profiles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8BDF8"/>
                </a:solidFill>
              </a:defRPr>
            </a:pPr>
            <a:r>
              <a:t>COLLEGE STUDENT  —  Age 20 | Exam Readiness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Coursework mastery, study sprint planning, budget control, and consistent sleep cutoff.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18CF8"/>
                </a:solidFill>
              </a:defRPr>
            </a:pPr>
            <a:r>
              <a:t>WORKING PROFESSIONAL  —  Age 29 | Senior Promotion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Deep work focus sprints, career velocity, liquid portfolio growth, and burnout prevention.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B7185"/>
                </a:solidFill>
              </a:defRPr>
            </a:pPr>
            <a:r>
              <a:t>FREELANCER / CREATOR  —  Age 26 | Revenue Smoothing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Irregular cashflow buffering, client milestone time-boxing, and vitality recovery.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BBF24"/>
                </a:solidFill>
              </a:defRPr>
            </a:pPr>
            <a:r>
              <a:t>ENTREPRENEUR / FOUNDER  —  Age 32 | Venture Scaling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Cash runway optimization, investor pitch sprint scheduling, and high-stress resilience.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9379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4D399"/>
                </a:solidFill>
              </a:defRPr>
            </a:pPr>
            <a:r>
              <a:t>ACTIVE RETIREE  —  Age 62 | Capital Preservation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Stochastic longevity modeling, health maintenance, estate planning, and lifestyle vitality.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STRESS-TESTING &amp; BIOLOGICAL FEEDBACK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Decision Sandbox: Real-Time What-If Tradeoff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DUAL SCENARIO STRESS-TESTING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Scenario A vs Scenario B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Compares live baseline against simulated adjustments across Sleep, Study, and Monthly Savings.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Non-Linear Vitality Modeling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Reductions in sleep below baseline invoke an exponential penalty on daytime cognitive focus.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Compound Capital Opportunity Cost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Models monthly savings deltas compounded at 8% CAGR over 1, 3, and 5-year investment horizons.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- 1-Click Scenario Preset Adoption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Seamlessly commits validated What-If scenario presets into MongoDB UserDoc profile settings.</a:t>
            </a:r>
          </a:p>
        </p:txBody>
      </p:sp>
      <p:pic>
        <p:nvPicPr>
          <p:cNvPr id="6" name="Picture 5" descr="04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FINANCIAL ENGINE &amp; PROBABILISTIC ROADMAP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Stochastic Wealth Planner: 500-Run Monte Carlo Simulation</a:t>
            </a:r>
          </a:p>
        </p:txBody>
      </p:sp>
      <p:pic>
        <p:nvPicPr>
          <p:cNvPr id="4" name="Picture 3" descr="05_wealth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GEOMETRIC BROWNIAN MOTION (GBM)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- 500 Stochastic Simulation Paths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Simulates annual portfolio drift and market volatility across 500 distinct trials to target retirement age.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Percentile Bounds (P10, P50, P90)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Computes realistic worst-case floor (10th percentile), median trajectory (50th), and optimistic upside (90th).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Goal Attainment Probability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Calculates exact percentage confidence score of exceeding net worth target by goal age.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Deterministic vs Stochastic Comparison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Exposes variance risk between static linear savings models and market volatility reality.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CIRCADIAN FOCUS ALIGNMENT &amp; TASK SYNTHESIS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Autonomous Circadian Daily Planner &amp;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CIRCADIAN TIME-BLOCKING ENGINE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Peak Cortisol Alignment (08:30-11:30)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Automatically places deep work and difficult academic coursework into prime cognitive focus windows.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Sleep Debt Compensation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Dynamically evaluates 7-day rolling sleep debt; lightens sprint density on sleep-deprived mornings to prevent burnout.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- 3-Tier Autonomy Governance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Supervised (Manual approval required), Semi-Autonomous (Auto-executes safe tasks), Full-Autonomous (Proactive scheduling).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Morning AI Briefings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Synthesizes contextual daily briefings with scheduled focus blocks and biometric readiness scores.</a:t>
            </a:r>
          </a:p>
        </p:txBody>
      </p:sp>
      <p:pic>
        <p:nvPicPr>
          <p:cNvPr id="6" name="Picture 5" descr="07_task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MULTI-MODAL CONVERSATIONAL INTELLIGENCE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Visual Risk Copilot: 4-Stage Agentic Reasoning</a:t>
            </a:r>
          </a:p>
        </p:txBody>
      </p:sp>
      <p:pic>
        <p:nvPicPr>
          <p:cNvPr id="4" name="Picture 3" descr="03_copilo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18CF8"/>
                </a:solidFill>
              </a:defRPr>
            </a:pPr>
            <a:r>
              <a:t>4-STAGE REASONING PIPELINE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- Step 1: Goal Definition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Decomposes user inquiry into explicit optimization targets and friction domains.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- Step 2: Telemetry Gathering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Queries MongoDB for live habit records, study logs, cashflow surplus, and goal progress.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- Step 3: Multi-Criteria Analysis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Evaluates biological elasticity, circadian cortisol curves, and stochastic forecasts.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- Step 4: Strategic Plan &amp; Action Card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Generates reasoning tree (&lt;think&gt;), markdown table, and 1-click executable action proposal.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BIOMETRIC TELEMETRY &amp; PATTERN RECOGNITION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Habit Analytics &amp; Predictive Correlation Modeling</a:t>
            </a:r>
          </a:p>
        </p:txBody>
      </p:sp>
      <p:pic>
        <p:nvPicPr>
          <p:cNvPr id="4" name="Picture 3" descr="06_habi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ANALYTICS CAPABILITIES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Grouped Correlation Analysis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Models cross-impact between Sleep Duration, Screen Time, Exercise Frequency, and Focus Scores.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Automated 12:00 PM Reflection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Daily noon cron that synthesizes 24-hour retrospective insights cached in MongoDB AppCache.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Vitality &amp; Focus Elasticity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Quantifies marginal focus gains per additional hour of sleep or reduction in late-night screen time.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Habit Consistency Tracking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30-day historical time series visualization with dynamic trend lines and standard deviation bands.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SPACED REPETITION &amp; EXAM FORECASTING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Academic &amp; Coursework Productivity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7-Day Pomodoro Sprints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AI Study Plan Synthesis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Synthesizes customized 7-day revision timetables based on active enrolled courses.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Allocates 45-min Pomodoro sprints with 15-min cognitive recovery intervals.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Prioritizes high-weight and under-studied subjects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146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0020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18CF8"/>
                </a:solidFill>
              </a:defRPr>
            </a:pPr>
            <a:r>
              <a:t>Spaced Repetition Engine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Memory Decay Mitigation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Applies Ebbinghaus forgetting curve intervals to reinforce key syllabus concepts.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Tracks focus ratings per study session to identify cognitive fatigue thresholds.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Logs coursework hours into MongoDB StudyRecordDoc collections.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146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4D399"/>
                </a:solidFill>
              </a:defRPr>
            </a:pPr>
            <a:r>
              <a:t>Exam Score Forecaster</a:t>
            </a:r>
          </a:p>
          <a:p>
            <a:pPr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Probabilistic Grade Modeling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Predicts expected exam performance and variance based on cumulative study hours.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Visualizes readiness radar across core modules and topics.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- Provides 1-click study sprint scheduling into the Daily Planner.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ZERO-TRUST SECURITY &amp; TOKEN GOVERNANCE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Multi-Session Authentication &amp; Cryptographic Security</a:t>
            </a:r>
          </a:p>
        </p:txBody>
      </p:sp>
      <p:pic>
        <p:nvPicPr>
          <p:cNvPr id="4" name="Picture 3" descr="10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CRYPTOGRAPHIC PROTOCOLS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Stateless JWT + Rotating Refresh Cookies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Short-lived access tokens (15 mins) paired with HttpOnly SameSite rotating refresh cookies (7 days).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Token Family Theft Detection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Maintains token family trees in MongoDB. If a revoked token is re-submitted, the entire family is revoked immediately.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Argon2id &amp; Bcrypt Password Hashing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Cryptographically secure password hashing with cost factor 12 and salt isolation.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Enumeration-Safe Generic Auth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Consistent generic error responses prevent account enumeration on login and password recovery.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Single-Use Random Recovery Tokens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</a:defRPr>
            </a:pPr>
            <a:r>
              <a:t>  Cryptographically generated 48-byte URL-safe tokens with strict TTL expiration.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DATA DURABILITY &amp; EMBEDDED ENGINE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MongoDB Document Architecture &amp; Disk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BEANIE DOCUMENT COLLECTIONS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- UserDoc: Profiles, targets, net worth, tasks_json, autonomy_mode, and slider presets.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- ChatSessionDoc: Conversational threads with embedded ChatMessageDoc lists for atomic fetch.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- HabitRecordDoc: Biometric sleep, screen time, exercise, and daily vitality logs.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- StudyRecordDoc: Academic coursework, focus ratings, and subject sprint logs.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- FinancialRecordDoc: Income and expense transactions categorized for cashflow analysis.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- UserSuggestionDoc: AI-generated recommendations with adoption states and impact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LOCAL SNAPSHOT PERSISTENCE ENGINE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Synchronous Mutation Sync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Every database write operation automatically triggers save_persistence_snapshot().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Atomic Temporary File Swap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Writes to data/mongodb_persistence.json.tmp before atomic OS replace to eliminate corruption.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Lossless Session Recovery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Tutorial threads, user custom chats, and action states are completely preserved across logins and reboots.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Embedded Engine Fallback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Allows 100% offline standalone operation with zero external cloud dependencies.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100% PASS RATE &amp; RIGOROUS VERIFICATION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Quality Assurance, Testing &amp; Automated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34D399"/>
                </a:solidFill>
              </a:defRPr>
            </a:pPr>
            <a:r>
              <a:t>21 / 21 Tests Passing</a:t>
            </a:r>
          </a:p>
          <a:p>
            <a:pPr>
              <a:spcAft>
                <a:spcPts val="600"/>
              </a:spcAft>
              <a:defRPr sz="1200" b="1">
                <a:solidFill>
                  <a:srgbClr val="64748B"/>
                </a:solidFill>
              </a:defRPr>
            </a:pPr>
            <a:r>
              <a:t>Pytest Suite (100%)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Comprehensive test coverage spanning mathematical simulation formulas, Pydantic schemas, auto-planner algorithms, and multi-turn table parsers.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38BDF8"/>
                </a:solidFill>
              </a:defRPr>
            </a:pPr>
            <a:r>
              <a:t>0 Build Errors</a:t>
            </a:r>
          </a:p>
          <a:p>
            <a:pPr>
              <a:spcAft>
                <a:spcPts val="600"/>
              </a:spcAft>
              <a:defRPr sz="1200" b="1">
                <a:solidFill>
                  <a:srgbClr val="64748B"/>
                </a:solidFill>
              </a:defRPr>
            </a:pPr>
            <a:r>
              <a:t>TypeScript + Vite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Clean frontend compilation across React 19, Radix UI primitives, Lucide icons, and Tailwind styling with zero type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818CF8"/>
                </a:solidFill>
              </a:defRPr>
            </a:pPr>
            <a:r>
              <a:t>Lossless Rehydration</a:t>
            </a:r>
          </a:p>
          <a:p>
            <a:pPr>
              <a:spcAft>
                <a:spcPts val="600"/>
              </a:spcAft>
              <a:defRPr sz="1200" b="1">
                <a:solidFill>
                  <a:srgbClr val="64748B"/>
                </a:solidFill>
              </a:defRPr>
            </a:pPr>
            <a:r>
              <a:t>End-to-End Verified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Full lifecycle verification across user registration, message appending, disk snapshotting, in-memory purging, and persistent rehydration.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BBF24"/>
                </a:solidFill>
              </a:defRPr>
            </a:pPr>
            <a:r>
              <a:t>Multi-Persona Integrity</a:t>
            </a:r>
          </a:p>
          <a:p>
            <a:pPr>
              <a:spcAft>
                <a:spcPts val="600"/>
              </a:spcAft>
              <a:defRPr sz="1200" b="1">
                <a:solidFill>
                  <a:srgbClr val="64748B"/>
                </a:solidFill>
              </a:defRPr>
            </a:pPr>
            <a:r>
              <a:t>5 Personas Calibrated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Realistic 30-day telemetry baselines and tailored suggestions verified for Student, Professional, Freelancer, Founder, and Retiree.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PROJECT IMPACT &amp; NEXT-GENERATION CAPABILITIES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Key Innovation Highlights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CORE INNOVATION HIGHLIGHTS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Deterministic &amp; Stochastic Fusion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Combines linear biological feedback modeling with 500-run Monte Carlo stochastic uncertainty.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Autonomous Circadian Orchestration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Transitions productivity from static calendars to intelligent, sleep-debt-aware schedule synthesis.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Agentic Reasoning with 1-Click Execution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Eliminates conversational dead-ends by turning AI reasoning directly into database mutations.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Zero-Data-Loss Embedded Durability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Delivers enterprise-grade reliability with JSON disk snapshots and MongoDB Beanie ODM.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818CF8"/>
                </a:solidFill>
              </a:defRPr>
            </a:pPr>
            <a:r>
              <a:t>FUTURE PRODUCT ROADMAP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Wearable Biometric Sensor Sync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Direct real-time Bluetooth and API synchronization with Apple Watch, Oura, and Garmin devices.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Multi-Agent Collaborative Simulations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Simulating multi-party financial negotiations, corporate risk modeling, and team sprints.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On-Device Local Neural Inference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WebGPU-accelerated local SLMs for zero-latency private biometric analysis.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- Automated Banking &amp; Open Banking Ingestion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Plaid API integration for real-time transaction reconciliation and spending categorization.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98142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THANK YOU</a:t>
            </a:r>
          </a:p>
          <a:p>
            <a:pPr>
              <a:spcAft>
                <a:spcPts val="600"/>
              </a:spcAft>
              <a:defRPr sz="3600" b="1">
                <a:solidFill>
                  <a:srgbClr val="F8FAFC"/>
                </a:solidFill>
              </a:defRPr>
            </a:pPr>
            <a:r>
              <a:t>Visual Risk AI</a:t>
            </a:r>
          </a:p>
          <a:p>
            <a:pPr>
              <a:spcAft>
                <a:spcPts val="1800"/>
              </a:spcAft>
              <a:defRPr sz="1800" b="1">
                <a:solidFill>
                  <a:srgbClr val="38BDF8"/>
                </a:solidFill>
              </a:defRPr>
            </a:pPr>
            <a:r>
              <a:t>Empowering Intelligent Decisions Through Mathematical Simulation &amp; Circadian AI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Project Repository: AI-Based-Visual-Risk-and-Compliance-Intelligence-System</a:t>
            </a:r>
            <a:br/>
            <a:r>
              <a:t>Author &amp; Maintainer: notysozu &lt;lifegamer2050@gmail.com&gt;</a:t>
            </a:r>
            <a:br/>
            <a:r>
              <a:t>Core Stack: React 19, FastAPI, Motor/Beanie, MongoDB, NumPy, Groq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